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E6BC5F8-799F-4C2F-B862-639A5670FCD2}">
          <p14:sldIdLst>
            <p14:sldId id="256"/>
            <p14:sldId id="257"/>
            <p14:sldId id="258"/>
            <p14:sldId id="262"/>
            <p14:sldId id="259"/>
            <p14:sldId id="260"/>
            <p14:sldId id="261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Untitled Section" id="{25D0B732-92D0-47DA-9FB0-56441B03E0FA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E23EF-2C0C-5C78-A372-DA4474A1B4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591C1B-F304-E84F-E23A-EDCC3EDAF3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54AE70-47CB-906C-BD4F-FFCEDCCE5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CDBF9-055A-4CB7-94DB-8033315BA8E2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CF884F-FC3A-BFCD-66B8-80BCDD5BB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D37E9D-CCA1-8731-6898-98F44EAB0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20157-2342-4E5C-8BD7-79696EF21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227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CBCD9-B9E0-90CA-FE8F-4DCB5F91A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278FF-8CE6-FB96-C679-36976EB0E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F11A3-0BE3-C97D-8EDC-13E59BB35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CDBF9-055A-4CB7-94DB-8033315BA8E2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0F4712-3248-D92C-2E15-C787D71C5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788C5-E10C-41EF-F1CA-92A265BDB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20157-2342-4E5C-8BD7-79696EF21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403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A8A77-A64B-C52C-37C2-0A5DFC6AB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07CF50-765D-17EA-A907-2AB647FD3F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60424-59D3-60A1-C9C3-D9E3EE126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CDBF9-055A-4CB7-94DB-8033315BA8E2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4C22A-4F3B-4D21-5F89-5CB334EA6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3D6417-0E74-416A-A9DA-926632EDF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20157-2342-4E5C-8BD7-79696EF21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215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23615-F9F6-8EAD-C2A7-6D641DAA0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EC0C4-8F91-E863-07B2-473D470B83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761236-2D93-66E5-1711-1F47C4C62B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FD2B9E-BD4E-03A1-CE79-6625CEFF6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CDBF9-055A-4CB7-94DB-8033315BA8E2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4B5C4E-3D1B-BE01-53E8-EE56E2ACF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B2D1C4-C8E6-BD4E-EEBF-0BBBDB0C2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20157-2342-4E5C-8BD7-79696EF21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747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D2718-50C9-229A-01E7-BB9ABCE8D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FD2D06-02F3-4060-B3CC-476B1A6C3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42CE3F-3581-F790-3FC5-F219DA0117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C8B4D8-9518-1CD6-7142-0A6B69E4E7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7F188F-A8A6-FF44-2632-C34D1BAE65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2787E3-565C-6D46-0BBD-0A77E458E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CDBF9-055A-4CB7-94DB-8033315BA8E2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37FE45-7745-5AC1-D764-19838A8A1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01983D-EFBD-E33D-EE16-535C5484B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20157-2342-4E5C-8BD7-79696EF21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526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9D896-BFA8-5013-D8D2-0787BD601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8F9955-D97B-655B-BD34-895690979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CDBF9-055A-4CB7-94DB-8033315BA8E2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6FAC75-595C-EA37-2AE9-F921BDCB8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88E0DF-5457-8F18-BBFA-C266394BE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20157-2342-4E5C-8BD7-79696EF21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514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AB7611-401E-8DB9-19A3-B3A634797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CDBF9-055A-4CB7-94DB-8033315BA8E2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351319-E3DB-DF0D-E32F-9E3729721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9AE16-C27E-A07A-93E7-5F34E7073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20157-2342-4E5C-8BD7-79696EF21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165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D393D-776D-DBE8-B99C-7047DB0F1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5C6E4-1609-E608-D5A8-8C4183ADC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42D6AE-C3B4-EF43-1577-50BF5368FA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EA2FB3-C553-02B5-C88C-FF4173959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CDBF9-055A-4CB7-94DB-8033315BA8E2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41CA6D-2515-5BDF-6A71-6642BA6AE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E3BB8B-8800-DDB2-65FC-E1FFD54F4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20157-2342-4E5C-8BD7-79696EF21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815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D95BD-852C-2F54-1362-4C785AD5E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D35AC8-465C-8CCD-0D4B-2F1F4E4B0F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0CCABC-E5B2-D88F-59DC-FD660732A1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68311F-7B4B-CF3B-B1E8-DF5F69E27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CDBF9-055A-4CB7-94DB-8033315BA8E2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1C8FDE-CA25-16CB-8E73-3C14E8FD9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0F5830-CB0A-E4AF-838D-F449059F4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20157-2342-4E5C-8BD7-79696EF21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736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3E6C3-E805-F60D-C74E-2CDBED7DE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652C09-9CAE-C63D-DD1D-F1289DA9E3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21A04C-5B81-C3A2-6538-6140BE83A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CDBF9-055A-4CB7-94DB-8033315BA8E2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7F3AD-3EA0-8971-8FEA-FCE7D4EE8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ACA658-DFA6-1BDB-719F-16B7C299C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20157-2342-4E5C-8BD7-79696EF21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92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D94912-C2A7-BA28-8A5E-39ECE8C22A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F78421-356A-5610-9526-CC76534854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CBA71-3585-CEE7-8A77-DE553B19C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CDBF9-055A-4CB7-94DB-8033315BA8E2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22B28-8396-7D01-7A7D-DB91EBD65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21FE7-9DA1-0233-7E2C-BCB5E725D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20157-2342-4E5C-8BD7-79696EF21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6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22F570-941E-D452-06D3-35E07E6A2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26A32F-C407-2B67-FE59-FA7DB48B45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1B9F1-0089-BFFB-F286-03A1889011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2CDBF9-055A-4CB7-94DB-8033315BA8E2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9A515F-4C54-D19C-4112-2679C4C26C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92A1C-FDCB-74BB-0048-045777CE66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520157-2342-4E5C-8BD7-79696EF21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587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microsoft.com/office/2007/relationships/hdphoto" Target="../media/hdphoto3.wdp"/><Relationship Id="rId4" Type="http://schemas.microsoft.com/office/2007/relationships/hdphoto" Target="../media/hdphoto1.wdp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www.dezyneecole.co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microsoft.com/office/2007/relationships/hdphoto" Target="../media/hdphoto4.wdp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7" Type="http://schemas.openxmlformats.org/officeDocument/2006/relationships/image" Target="../media/image1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7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microsoft.com/office/2007/relationships/hdphoto" Target="../media/hdphoto4.wdp"/><Relationship Id="rId7" Type="http://schemas.openxmlformats.org/officeDocument/2006/relationships/image" Target="../media/image2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microsoft.com/office/2007/relationships/hdphoto" Target="../media/hdphoto4.wdp"/><Relationship Id="rId7" Type="http://schemas.openxmlformats.org/officeDocument/2006/relationships/image" Target="../media/image2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microsoft.com/office/2007/relationships/hdphoto" Target="../media/hdphoto4.wdp"/><Relationship Id="rId7" Type="http://schemas.openxmlformats.org/officeDocument/2006/relationships/image" Target="../media/image2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7" Type="http://schemas.openxmlformats.org/officeDocument/2006/relationships/image" Target="../media/image2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7" Type="http://schemas.openxmlformats.org/officeDocument/2006/relationships/image" Target="../media/image2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microsoft.com/office/2007/relationships/hdphoto" Target="../media/hdphoto4.wdp"/><Relationship Id="rId7" Type="http://schemas.openxmlformats.org/officeDocument/2006/relationships/image" Target="../media/image2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microsoft.com/office/2007/relationships/hdphoto" Target="../media/hdphoto4.wdp"/><Relationship Id="rId7" Type="http://schemas.openxmlformats.org/officeDocument/2006/relationships/image" Target="../media/image2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7" Type="http://schemas.openxmlformats.org/officeDocument/2006/relationships/image" Target="../media/image3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microsoft.com/office/2007/relationships/hdphoto" Target="../media/hdphoto4.wdp"/><Relationship Id="rId7" Type="http://schemas.openxmlformats.org/officeDocument/2006/relationships/image" Target="../media/image3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microsoft.com/office/2007/relationships/hdphoto" Target="../media/hdphoto4.wdp"/><Relationship Id="rId7" Type="http://schemas.openxmlformats.org/officeDocument/2006/relationships/image" Target="../media/image3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7" Type="http://schemas.openxmlformats.org/officeDocument/2006/relationships/image" Target="../media/image3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8AA6912F-4221-8113-2A40-B08BB8A7E3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FD768D5-2065-C26C-165F-CEAFCB79E8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FilmGrain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71433" y="284938"/>
            <a:ext cx="1230418" cy="1142645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73995149-771B-A0E6-1EE8-A8D602C2CD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069822"/>
            <a:ext cx="8612155" cy="922642"/>
          </a:xfrm>
        </p:spPr>
        <p:txBody>
          <a:bodyPr>
            <a:normAutofit fontScale="25000" lnSpcReduction="20000"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sz="14400" b="1" dirty="0">
                <a:latin typeface="Arial Rounded MT Bold" panose="020F0704030504030204" pitchFamily="34" charset="0"/>
              </a:rPr>
              <a:t>DIGITAL MARKETING ASSIGNMENT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3A459E8-8B7E-0C49-11C6-D5A4897295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7017" y="285387"/>
            <a:ext cx="1869222" cy="11421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C3C6274-B8E5-ECF6-E626-AA858D2CDC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7667" y="285387"/>
            <a:ext cx="2296666" cy="1142196"/>
          </a:xfrm>
          <a:prstGeom prst="rect">
            <a:avLst/>
          </a:prstGeom>
        </p:spPr>
      </p:pic>
      <p:sp>
        <p:nvSpPr>
          <p:cNvPr id="13" name="Subtitle 2">
            <a:extLst>
              <a:ext uri="{FF2B5EF4-FFF2-40B4-BE49-F238E27FC236}">
                <a16:creationId xmlns:a16="http://schemas.microsoft.com/office/drawing/2014/main" id="{0C63A2F7-DC3E-2ED5-25F4-3556342866F2}"/>
              </a:ext>
            </a:extLst>
          </p:cNvPr>
          <p:cNvSpPr txBox="1">
            <a:spLocks/>
          </p:cNvSpPr>
          <p:nvPr/>
        </p:nvSpPr>
        <p:spPr>
          <a:xfrm>
            <a:off x="1063869" y="4049130"/>
            <a:ext cx="5495551" cy="17821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50E2BC-9396-F761-56A3-D2B75E38B6DD}"/>
              </a:ext>
            </a:extLst>
          </p:cNvPr>
          <p:cNvSpPr txBox="1"/>
          <p:nvPr/>
        </p:nvSpPr>
        <p:spPr>
          <a:xfrm>
            <a:off x="8019422" y="4226375"/>
            <a:ext cx="382546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 err="1"/>
              <a:t>Velvora</a:t>
            </a:r>
            <a:r>
              <a:rPr lang="en-US" sz="3600" b="1" dirty="0"/>
              <a:t> Cosmetic </a:t>
            </a:r>
          </a:p>
          <a:p>
            <a:r>
              <a:rPr lang="en-US" dirty="0"/>
              <a:t>    </a:t>
            </a:r>
            <a:r>
              <a:rPr lang="en-US" sz="2400" dirty="0"/>
              <a:t>Meta-Ads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8CF65CD-9E60-973F-1C73-82C91D2162AC}"/>
              </a:ext>
            </a:extLst>
          </p:cNvPr>
          <p:cNvCxnSpPr>
            <a:cxnSpLocks/>
          </p:cNvCxnSpPr>
          <p:nvPr/>
        </p:nvCxnSpPr>
        <p:spPr>
          <a:xfrm>
            <a:off x="318839" y="3086709"/>
            <a:ext cx="797447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FAE48DD-3A0E-3FBD-A715-C29B3B4A4FB7}"/>
              </a:ext>
            </a:extLst>
          </p:cNvPr>
          <p:cNvSpPr txBox="1"/>
          <p:nvPr/>
        </p:nvSpPr>
        <p:spPr>
          <a:xfrm>
            <a:off x="8092381" y="5242038"/>
            <a:ext cx="336665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Bhumika Rathore</a:t>
            </a:r>
          </a:p>
          <a:p>
            <a:r>
              <a:rPr lang="en-US" sz="2400" dirty="0"/>
              <a:t>3</a:t>
            </a:r>
            <a:r>
              <a:rPr lang="en-US" sz="2400" baseline="30000" dirty="0"/>
              <a:t>rd</a:t>
            </a:r>
            <a:r>
              <a:rPr lang="en-US" sz="2400" dirty="0"/>
              <a:t> semester </a:t>
            </a:r>
          </a:p>
          <a:p>
            <a:r>
              <a:rPr lang="en-US" sz="2400" dirty="0"/>
              <a:t>Session- 2026-2027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B9867C3-0E16-963A-F597-6F84DF01F87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4883" r="13262"/>
          <a:stretch>
            <a:fillRect/>
          </a:stretch>
        </p:blipFill>
        <p:spPr>
          <a:xfrm>
            <a:off x="1011479" y="3262075"/>
            <a:ext cx="3936188" cy="364304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6CE3848-95E0-57FE-A7E5-F381E36E4F7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0430" y="236187"/>
            <a:ext cx="3825463" cy="3667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867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651F2-4D06-5B8D-DE69-32E3A59108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3306"/>
            <a:ext cx="12192000" cy="676469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altLang="en-US" dirty="0">
                <a:latin typeface="Arial" panose="020B0604020202020204" pitchFamily="34" charset="0"/>
              </a:rPr>
              <a:t>-----------------------------------------------------------------------------------------------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0B0513-0779-91D1-B009-9DD91BC86A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692" y="961146"/>
            <a:ext cx="4197874" cy="3662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733338" algn="r"/>
              </a:tabLs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Assignment Folio of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733338" algn="r"/>
              </a:tabLs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Digital Marketing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733338" algn="r"/>
              </a:tabLs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Submitted to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733338" algn="r"/>
              </a:tabLst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Dezyne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École College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733338" algn="r"/>
              </a:tabLs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Toward Digital Marketing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733338" algn="r"/>
              </a:tabLs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By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733338" algn="r"/>
              </a:tabLs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B</a:t>
            </a:r>
            <a:r>
              <a:rPr lang="en-US" altLang="en-US" sz="1600" dirty="0">
                <a:solidFill>
                  <a:srgbClr val="000000"/>
                </a:solidFill>
                <a:ea typeface="Calibri" panose="020F0502020204030204" pitchFamily="34" charset="0"/>
              </a:rPr>
              <a:t>CA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733338" algn="r"/>
              </a:tabLst>
            </a:pPr>
            <a:r>
              <a:rPr lang="en-US" altLang="en-US" sz="1600" dirty="0">
                <a:solidFill>
                  <a:srgbClr val="000000"/>
                </a:solidFill>
                <a:ea typeface="Calibri" panose="020F0502020204030204" pitchFamily="34" charset="0"/>
              </a:rPr>
              <a:t>3</a:t>
            </a:r>
            <a:r>
              <a:rPr lang="en-US" altLang="en-US" sz="1600" baseline="30000" dirty="0">
                <a:solidFill>
                  <a:srgbClr val="000000"/>
                </a:solidFill>
                <a:ea typeface="Calibri" panose="020F0502020204030204" pitchFamily="34" charset="0"/>
              </a:rPr>
              <a:t>rd</a:t>
            </a:r>
            <a:r>
              <a:rPr lang="en-US" altLang="en-US" sz="1600" dirty="0">
                <a:solidFill>
                  <a:srgbClr val="000000"/>
                </a:solidFill>
                <a:ea typeface="Calibri" panose="020F050202020403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Semester </a:t>
            </a:r>
            <a:endParaRPr lang="en-US" altLang="en-US" sz="1600" dirty="0">
              <a:ea typeface="Calibri" panose="020F050202020403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733338" algn="r"/>
              </a:tabLs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Bhumika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rathore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733338" algn="r"/>
              </a:tabLst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4DB15B-66BF-ECDC-B235-66AC9C3B20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9487" y="5519519"/>
            <a:ext cx="3529882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Dezyne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 École College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106/10, Civil Lines, Ajmer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563C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hlinkClick r:id="rId2"/>
              </a:rPr>
              <a:t>www.dezyneecole.com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563C1"/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ea typeface="Calibri" panose="020F0502020204030204" pitchFamily="34" charset="0"/>
              </a:rPr>
              <a:t>2026 - 2027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563C1"/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F18F13-9013-1117-25E6-9A9EA57A2A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0036" y="4419880"/>
            <a:ext cx="1441185" cy="880642"/>
          </a:xfrm>
          <a:prstGeom prst="rect">
            <a:avLst/>
          </a:prstGeom>
        </p:spPr>
      </p:pic>
      <p:sp>
        <p:nvSpPr>
          <p:cNvPr id="7" name="TextBox 13">
            <a:extLst>
              <a:ext uri="{FF2B5EF4-FFF2-40B4-BE49-F238E27FC236}">
                <a16:creationId xmlns:a16="http://schemas.microsoft.com/office/drawing/2014/main" id="{88AA9983-F465-5568-8D34-269346771BE0}"/>
              </a:ext>
            </a:extLst>
          </p:cNvPr>
          <p:cNvSpPr txBox="1"/>
          <p:nvPr/>
        </p:nvSpPr>
        <p:spPr>
          <a:xfrm>
            <a:off x="153177" y="186477"/>
            <a:ext cx="18622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1400" b="1" dirty="0">
                <a:latin typeface="Arial" panose="020B0604020202020204" pitchFamily="34" charset="0"/>
                <a:ea typeface="Calibri" panose="020F0502020204030204" pitchFamily="34" charset="0"/>
              </a:rPr>
              <a:t>Digital Marketing</a:t>
            </a:r>
            <a:endParaRPr lang="en-IN" sz="1400" dirty="0"/>
          </a:p>
        </p:txBody>
      </p:sp>
      <p:sp>
        <p:nvSpPr>
          <p:cNvPr id="8" name="TextBox 12">
            <a:extLst>
              <a:ext uri="{FF2B5EF4-FFF2-40B4-BE49-F238E27FC236}">
                <a16:creationId xmlns:a16="http://schemas.microsoft.com/office/drawing/2014/main" id="{8F4A9C91-93FA-92D5-86F2-9311D9C315C8}"/>
              </a:ext>
            </a:extLst>
          </p:cNvPr>
          <p:cNvSpPr txBox="1"/>
          <p:nvPr/>
        </p:nvSpPr>
        <p:spPr>
          <a:xfrm>
            <a:off x="9339199" y="118702"/>
            <a:ext cx="2331457" cy="375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</a:pPr>
            <a:r>
              <a:rPr lang="en-US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Assignment Report</a:t>
            </a:r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A2A3E6C2-1053-4F96-18AA-5538A3E6A649}"/>
              </a:ext>
            </a:extLst>
          </p:cNvPr>
          <p:cNvSpPr txBox="1"/>
          <p:nvPr/>
        </p:nvSpPr>
        <p:spPr>
          <a:xfrm>
            <a:off x="-63266" y="961146"/>
            <a:ext cx="2145830" cy="375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</a:pPr>
            <a:r>
              <a:rPr lang="en-US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Assignment Report</a:t>
            </a:r>
            <a:endParaRPr lang="en-US" altLang="en-US" sz="1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801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3">
            <a:extLst>
              <a:ext uri="{FF2B5EF4-FFF2-40B4-BE49-F238E27FC236}">
                <a16:creationId xmlns:a16="http://schemas.microsoft.com/office/drawing/2014/main" id="{5BECAD8C-471C-FC08-C550-FAAE9908810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0" y="0"/>
            <a:ext cx="12192000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None/>
            </a:pPr>
            <a:r>
              <a:rPr lang="en-US" altLang="en-US" sz="1600" b="1" dirty="0">
                <a:latin typeface="Arial" panose="020B0604020202020204" pitchFamily="34" charset="0"/>
                <a:ea typeface="Calibri" panose="020F0502020204030204" pitchFamily="34" charset="0"/>
              </a:rPr>
              <a:t> Digital Marketing</a:t>
            </a:r>
            <a:endParaRPr lang="en-IN" sz="1600" dirty="0"/>
          </a:p>
        </p:txBody>
      </p:sp>
      <p:sp>
        <p:nvSpPr>
          <p:cNvPr id="5" name="TextBox 12">
            <a:extLst>
              <a:ext uri="{FF2B5EF4-FFF2-40B4-BE49-F238E27FC236}">
                <a16:creationId xmlns:a16="http://schemas.microsoft.com/office/drawing/2014/main" id="{5C56702C-399E-7E39-AD90-1485786A565C}"/>
              </a:ext>
            </a:extLst>
          </p:cNvPr>
          <p:cNvSpPr txBox="1"/>
          <p:nvPr/>
        </p:nvSpPr>
        <p:spPr>
          <a:xfrm>
            <a:off x="9520177" y="-98724"/>
            <a:ext cx="2331457" cy="416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Assignment Report</a:t>
            </a:r>
            <a:endParaRPr lang="en-US" altLang="en-US" sz="1600" dirty="0"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270830-FAC1-9C7E-406B-3DB749E4B864}"/>
              </a:ext>
            </a:extLst>
          </p:cNvPr>
          <p:cNvSpPr txBox="1"/>
          <p:nvPr/>
        </p:nvSpPr>
        <p:spPr>
          <a:xfrm>
            <a:off x="-174172" y="326618"/>
            <a:ext cx="12191999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12733338" algn="r"/>
              </a:tabLst>
            </a:pPr>
            <a:r>
              <a:rPr lang="en-US" altLang="en-US" sz="1800" dirty="0">
                <a:latin typeface="Arial" panose="020B0604020202020204" pitchFamily="34" charset="0"/>
              </a:rPr>
              <a:t>-----------------------------------------------------------------------------------------------------------------------------------------------------------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E37A8A-F112-F82B-54B9-D5ABC100832E}"/>
              </a:ext>
            </a:extLst>
          </p:cNvPr>
          <p:cNvSpPr txBox="1"/>
          <p:nvPr/>
        </p:nvSpPr>
        <p:spPr>
          <a:xfrm>
            <a:off x="-174172" y="630149"/>
            <a:ext cx="2561253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</a:pPr>
            <a:r>
              <a:rPr lang="en-US" altLang="en-US" sz="18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Assignment Report</a:t>
            </a: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0D3144-46E6-0B82-F499-06E47693918A}"/>
              </a:ext>
            </a:extLst>
          </p:cNvPr>
          <p:cNvSpPr txBox="1"/>
          <p:nvPr/>
        </p:nvSpPr>
        <p:spPr>
          <a:xfrm>
            <a:off x="125962" y="1225458"/>
            <a:ext cx="1181722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just">
              <a:buNone/>
            </a:pPr>
            <a:r>
              <a:rPr lang="en-IN" dirty="0"/>
              <a:t>We take this opportunity to express our sincere gratitude to </a:t>
            </a:r>
            <a:r>
              <a:rPr lang="en-IN" dirty="0" err="1"/>
              <a:t>Dezyne</a:t>
            </a:r>
            <a:r>
              <a:rPr lang="en-IN" dirty="0"/>
              <a:t> École College for providing us with the knowledge, resources, and guidance essential to the successful completion of this project.</a:t>
            </a:r>
          </a:p>
          <a:p>
            <a:pPr indent="0" algn="just">
              <a:buNone/>
            </a:pPr>
            <a:endParaRPr lang="en-IN" dirty="0"/>
          </a:p>
          <a:p>
            <a:pPr indent="0" algn="just">
              <a:buNone/>
            </a:pPr>
            <a:r>
              <a:rPr lang="en-IN" dirty="0"/>
              <a:t>Our deepest thanks to our respected Principal, Dr. Vinita Mathur, for her visionary leadership and continuous encouragement. Her commitment to academic excellence and student growth has been a constant source of motivation and pride</a:t>
            </a:r>
          </a:p>
          <a:p>
            <a:pPr indent="0" algn="just">
              <a:buNone/>
            </a:pPr>
            <a:r>
              <a:rPr lang="en-IN" dirty="0"/>
              <a:t>.</a:t>
            </a:r>
          </a:p>
          <a:p>
            <a:pPr indent="0" algn="just">
              <a:buNone/>
            </a:pPr>
            <a:r>
              <a:rPr lang="en-IN" dirty="0"/>
              <a:t>We are equally thankful to all our faculty members for their consistent support, expert advice, and valuable insights that shaped our learning and helped us achieve this </a:t>
            </a:r>
            <a:r>
              <a:rPr lang="en-IN" dirty="0" err="1"/>
              <a:t>milestone.Lastly</a:t>
            </a:r>
            <a:r>
              <a:rPr lang="en-IN" dirty="0"/>
              <a:t>, we extend heartfelt thanks to everyone who directly or indirectly contributed to the success of this project.</a:t>
            </a:r>
          </a:p>
          <a:p>
            <a:pPr indent="0" algn="just">
              <a:buNone/>
            </a:pPr>
            <a:endParaRPr lang="en-IN" dirty="0"/>
          </a:p>
          <a:p>
            <a:pPr indent="0" algn="just">
              <a:buNone/>
            </a:pPr>
            <a:r>
              <a:rPr lang="en-IN" dirty="0"/>
              <a:t>We are proud to be part of </a:t>
            </a:r>
            <a:r>
              <a:rPr lang="en-IN" dirty="0" err="1"/>
              <a:t>Dezyne</a:t>
            </a:r>
            <a:r>
              <a:rPr lang="en-IN" dirty="0"/>
              <a:t> École College, an institution that truly nurtures professionalism, innovation, and purpose.</a:t>
            </a:r>
          </a:p>
          <a:p>
            <a:pPr indent="0" algn="just">
              <a:buNone/>
            </a:pPr>
            <a:r>
              <a:rPr lang="en-IN" dirty="0"/>
              <a:t>With sincere appreciation,</a:t>
            </a:r>
          </a:p>
          <a:p>
            <a:pPr indent="0" algn="just">
              <a:buNone/>
            </a:pPr>
            <a:endParaRPr lang="en-IN" dirty="0"/>
          </a:p>
          <a:p>
            <a:pPr indent="0" algn="just">
              <a:buNone/>
            </a:pPr>
            <a:r>
              <a:rPr lang="en-IN" dirty="0"/>
              <a:t>Bhumika </a:t>
            </a:r>
            <a:r>
              <a:rPr lang="en-IN" dirty="0" err="1"/>
              <a:t>rathore</a:t>
            </a:r>
            <a:endParaRPr lang="en-IN" dirty="0"/>
          </a:p>
          <a:p>
            <a:pPr indent="0" algn="just">
              <a:buNone/>
            </a:pPr>
            <a:r>
              <a:rPr lang="en-IN" dirty="0"/>
              <a:t>Department – BCA</a:t>
            </a:r>
          </a:p>
          <a:p>
            <a:pPr indent="0" algn="just">
              <a:buNone/>
            </a:pPr>
            <a:r>
              <a:rPr lang="en-IN" dirty="0" err="1"/>
              <a:t>Dezyne</a:t>
            </a:r>
            <a:r>
              <a:rPr lang="en-IN" dirty="0"/>
              <a:t> École College, Ajmer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258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2">
            <a:extLst>
              <a:ext uri="{FF2B5EF4-FFF2-40B4-BE49-F238E27FC236}">
                <a16:creationId xmlns:a16="http://schemas.microsoft.com/office/drawing/2014/main" id="{08BC501A-E9C7-4590-95A6-10A7B1127404}"/>
              </a:ext>
            </a:extLst>
          </p:cNvPr>
          <p:cNvSpPr txBox="1"/>
          <p:nvPr/>
        </p:nvSpPr>
        <p:spPr>
          <a:xfrm>
            <a:off x="10033924" y="62682"/>
            <a:ext cx="1694656" cy="375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</a:pPr>
            <a:r>
              <a:rPr lang="en-US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Case Study</a:t>
            </a:r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5" name="TextBox 13">
            <a:extLst>
              <a:ext uri="{FF2B5EF4-FFF2-40B4-BE49-F238E27FC236}">
                <a16:creationId xmlns:a16="http://schemas.microsoft.com/office/drawing/2014/main" id="{BF21D964-6BDB-9ED3-8D8D-D7DD93BAB971}"/>
              </a:ext>
            </a:extLst>
          </p:cNvPr>
          <p:cNvSpPr txBox="1"/>
          <p:nvPr/>
        </p:nvSpPr>
        <p:spPr>
          <a:xfrm>
            <a:off x="202952" y="130457"/>
            <a:ext cx="18311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1400" b="1" dirty="0">
                <a:solidFill>
                  <a:srgbClr val="2F5597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Digital Marketing</a:t>
            </a:r>
            <a:endParaRPr lang="en-IN" sz="1400" dirty="0"/>
          </a:p>
        </p:txBody>
      </p:sp>
      <p:sp>
        <p:nvSpPr>
          <p:cNvPr id="6" name="TextBox 14">
            <a:extLst>
              <a:ext uri="{FF2B5EF4-FFF2-40B4-BE49-F238E27FC236}">
                <a16:creationId xmlns:a16="http://schemas.microsoft.com/office/drawing/2014/main" id="{C242DCFE-3839-50CB-7283-DEA7691D2000}"/>
              </a:ext>
            </a:extLst>
          </p:cNvPr>
          <p:cNvSpPr txBox="1"/>
          <p:nvPr/>
        </p:nvSpPr>
        <p:spPr>
          <a:xfrm>
            <a:off x="202952" y="927796"/>
            <a:ext cx="2813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ASSIGNMENT FOLIO</a:t>
            </a:r>
            <a:endParaRPr lang="en-US" altLang="en-US" sz="1400" dirty="0">
              <a:latin typeface="Arial" panose="020B0604020202020204" pitchFamily="34" charset="0"/>
            </a:endParaRPr>
          </a:p>
          <a:p>
            <a:endParaRPr lang="en-IN" sz="1400" dirty="0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819510F4-96E9-29A4-4F42-7017716DF577}"/>
              </a:ext>
            </a:extLst>
          </p:cNvPr>
          <p:cNvSpPr txBox="1"/>
          <p:nvPr/>
        </p:nvSpPr>
        <p:spPr>
          <a:xfrm>
            <a:off x="275313" y="1451016"/>
            <a:ext cx="11522651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600" b="1" dirty="0"/>
              <a:t>Objectives:</a:t>
            </a:r>
          </a:p>
          <a:p>
            <a:pPr algn="just"/>
            <a:r>
              <a:rPr lang="en-US" sz="1600" dirty="0"/>
              <a:t>Increase Instagram Profile Visits, Boost Brand Awareness, Grow Followers Organically, Increase Engagement Rate &amp; Improve Content Reach.</a:t>
            </a:r>
          </a:p>
          <a:p>
            <a:pPr algn="just"/>
            <a:endParaRPr lang="en-US" sz="1600" dirty="0"/>
          </a:p>
          <a:p>
            <a:pPr algn="just"/>
            <a:r>
              <a:rPr lang="en-US" sz="1600" b="1" dirty="0"/>
              <a:t>Key Feature:</a:t>
            </a:r>
          </a:p>
          <a:p>
            <a:pPr algn="just"/>
            <a:endParaRPr lang="en-US" sz="1600" b="1" dirty="0"/>
          </a:p>
          <a:p>
            <a:pPr algn="just"/>
            <a:r>
              <a:rPr lang="en-US" sz="1600" b="1" dirty="0"/>
              <a:t>1. Traffic Campaign Objective</a:t>
            </a:r>
          </a:p>
          <a:p>
            <a:pPr algn="just"/>
            <a:r>
              <a:rPr lang="en-US" sz="1600" dirty="0"/>
              <a:t>Selected the "Traffic" objective in Meta Ads Manager to drive Instagram profile visits.</a:t>
            </a:r>
          </a:p>
          <a:p>
            <a:pPr algn="just"/>
            <a:endParaRPr lang="en-US" sz="1600" b="1" dirty="0"/>
          </a:p>
          <a:p>
            <a:pPr algn="just"/>
            <a:r>
              <a:rPr lang="en-US" sz="1600" b="1" dirty="0"/>
              <a:t>2. Audience Targeting</a:t>
            </a:r>
          </a:p>
          <a:p>
            <a:pPr algn="just"/>
            <a:r>
              <a:rPr lang="en-US" sz="1600" dirty="0"/>
              <a:t>Targeted users based on age, interests, behavior, and location.</a:t>
            </a:r>
          </a:p>
          <a:p>
            <a:pPr algn="just"/>
            <a:endParaRPr lang="en-US" sz="1600" b="1" dirty="0"/>
          </a:p>
          <a:p>
            <a:pPr algn="just"/>
            <a:r>
              <a:rPr lang="en-US" sz="1600" b="1" dirty="0"/>
              <a:t>3. Engaging Creative Content</a:t>
            </a:r>
          </a:p>
          <a:p>
            <a:pPr algn="just"/>
            <a:r>
              <a:rPr lang="en-US" sz="1600" dirty="0"/>
              <a:t>Used eye-catching Reels, carousel posts, and strong captions.</a:t>
            </a:r>
          </a:p>
          <a:p>
            <a:pPr algn="just"/>
            <a:endParaRPr lang="en-US" sz="1600" b="1" dirty="0"/>
          </a:p>
          <a:p>
            <a:pPr algn="just"/>
            <a:r>
              <a:rPr lang="en-US" sz="1600" b="1" dirty="0"/>
              <a:t>4. Call-to-Action Button</a:t>
            </a:r>
          </a:p>
          <a:p>
            <a:pPr algn="just"/>
            <a:r>
              <a:rPr lang="en-US" sz="1600" dirty="0"/>
              <a:t>Used "Visit Instagram Profile" to direct users instantly.</a:t>
            </a:r>
          </a:p>
          <a:p>
            <a:pPr algn="just"/>
            <a:endParaRPr lang="en-US" sz="1600" b="1" dirty="0"/>
          </a:p>
          <a:p>
            <a:pPr algn="just"/>
            <a:r>
              <a:rPr lang="en-US" sz="1600" b="1" dirty="0"/>
              <a:t>5. Performance Tracking</a:t>
            </a:r>
          </a:p>
          <a:p>
            <a:pPr algn="just"/>
            <a:r>
              <a:rPr lang="en-US" sz="1600" dirty="0"/>
              <a:t>Monitored metrics like CTR, Profile Visits, CPC, and Engagement Rate.</a:t>
            </a:r>
            <a:endParaRPr lang="en-IN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F46E3B-8E57-C6A0-5862-BEF7B10E3254}"/>
              </a:ext>
            </a:extLst>
          </p:cNvPr>
          <p:cNvSpPr txBox="1"/>
          <p:nvPr/>
        </p:nvSpPr>
        <p:spPr>
          <a:xfrm>
            <a:off x="49763" y="390226"/>
            <a:ext cx="12092474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12733338" algn="r"/>
              </a:tabLst>
            </a:pPr>
            <a:r>
              <a:rPr lang="en-US" altLang="en-US" sz="1800" dirty="0">
                <a:latin typeface="Arial" panose="020B0604020202020204" pitchFamily="34" charset="0"/>
              </a:rPr>
              <a:t>-----------------------------------------------------------------------------------------------------------------------------------------------------------</a:t>
            </a:r>
          </a:p>
        </p:txBody>
      </p:sp>
    </p:spTree>
    <p:extLst>
      <p:ext uri="{BB962C8B-B14F-4D97-AF65-F5344CB8AC3E}">
        <p14:creationId xmlns:p14="http://schemas.microsoft.com/office/powerpoint/2010/main" val="978462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3">
            <a:extLst>
              <a:ext uri="{FF2B5EF4-FFF2-40B4-BE49-F238E27FC236}">
                <a16:creationId xmlns:a16="http://schemas.microsoft.com/office/drawing/2014/main" id="{B3F73405-4D11-7057-F2DB-E1E88CC1FD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0EFA5FE-61DF-902C-CAF2-61010FACEA6F}"/>
              </a:ext>
            </a:extLst>
          </p:cNvPr>
          <p:cNvSpPr/>
          <p:nvPr/>
        </p:nvSpPr>
        <p:spPr>
          <a:xfrm rot="13501645" flipH="1" flipV="1">
            <a:off x="4210272" y="1375325"/>
            <a:ext cx="3600000" cy="3600000"/>
          </a:xfrm>
          <a:custGeom>
            <a:avLst/>
            <a:gdLst>
              <a:gd name="csX0" fmla="*/ 5618302 w 8845647"/>
              <a:gd name="csY0" fmla="*/ 1142521 h 8116992"/>
              <a:gd name="csX1" fmla="*/ 5101211 w 8845647"/>
              <a:gd name="csY1" fmla="*/ 2220709 h 8116992"/>
              <a:gd name="csX2" fmla="*/ 5103444 w 8845647"/>
              <a:gd name="csY2" fmla="*/ 3616888 h 8116992"/>
              <a:gd name="csX3" fmla="*/ 6529120 w 8845647"/>
              <a:gd name="csY3" fmla="*/ 3614609 h 8116992"/>
              <a:gd name="csX4" fmla="*/ 7952562 w 8845647"/>
              <a:gd name="csY4" fmla="*/ 2216150 h 8116992"/>
              <a:gd name="csX5" fmla="*/ 6524655 w 8845647"/>
              <a:gd name="csY5" fmla="*/ 822250 h 8116992"/>
              <a:gd name="csX6" fmla="*/ 6524654 w 8845647"/>
              <a:gd name="csY6" fmla="*/ 822253 h 8116992"/>
              <a:gd name="csX7" fmla="*/ 5618302 w 8845647"/>
              <a:gd name="csY7" fmla="*/ 1142521 h 8116992"/>
              <a:gd name="csX8" fmla="*/ 1491260 w 8845647"/>
              <a:gd name="csY8" fmla="*/ 4751671 h 8116992"/>
              <a:gd name="csX9" fmla="*/ 1002517 w 8845647"/>
              <a:gd name="csY9" fmla="*/ 5843002 h 8116992"/>
              <a:gd name="csX10" fmla="*/ 2466358 w 8845647"/>
              <a:gd name="csY10" fmla="*/ 7199117 h 8116992"/>
              <a:gd name="csX11" fmla="*/ 2466357 w 8845647"/>
              <a:gd name="csY11" fmla="*/ 7199116 h 8116992"/>
              <a:gd name="csX12" fmla="*/ 3852775 w 8845647"/>
              <a:gd name="csY12" fmla="*/ 5763942 h 8116992"/>
              <a:gd name="csX13" fmla="*/ 3814063 w 8845647"/>
              <a:gd name="csY13" fmla="*/ 4368299 h 8116992"/>
              <a:gd name="csX14" fmla="*/ 2388934 w 8845647"/>
              <a:gd name="csY14" fmla="*/ 4407828 h 8116992"/>
              <a:gd name="csX15" fmla="*/ 1491260 w 8845647"/>
              <a:gd name="csY15" fmla="*/ 4751671 h 8116992"/>
              <a:gd name="csX16" fmla="*/ 4836781 w 8845647"/>
              <a:gd name="csY16" fmla="*/ 620466 h 8116992"/>
              <a:gd name="csX17" fmla="*/ 6531678 w 8845647"/>
              <a:gd name="csY17" fmla="*/ 865 h 8116992"/>
              <a:gd name="csX18" fmla="*/ 8844894 w 8845647"/>
              <a:gd name="csY18" fmla="*/ 2328029 h 8116992"/>
              <a:gd name="csX19" fmla="*/ 6413267 w 8845647"/>
              <a:gd name="csY19" fmla="*/ 4531175 h 8116992"/>
              <a:gd name="csX20" fmla="*/ 4746465 w 8845647"/>
              <a:gd name="csY20" fmla="*/ 4487609 h 8116992"/>
              <a:gd name="csX21" fmla="*/ 4746465 w 8845647"/>
              <a:gd name="csY21" fmla="*/ 3585133 h 8116992"/>
              <a:gd name="csX22" fmla="*/ 4746465 w 8845647"/>
              <a:gd name="csY22" fmla="*/ 3585133 h 8116992"/>
              <a:gd name="csX23" fmla="*/ 4746464 w 8845647"/>
              <a:gd name="csY23" fmla="*/ 4487609 h 8116992"/>
              <a:gd name="csX24" fmla="*/ 4040845 w 8845647"/>
              <a:gd name="csY24" fmla="*/ 4469166 h 8116992"/>
              <a:gd name="csX25" fmla="*/ 4040845 w 8845647"/>
              <a:gd name="csY25" fmla="*/ 4469166 h 8116992"/>
              <a:gd name="csX26" fmla="*/ 4746465 w 8845647"/>
              <a:gd name="csY26" fmla="*/ 4487609 h 8116992"/>
              <a:gd name="csX27" fmla="*/ 4746465 w 8845647"/>
              <a:gd name="csY27" fmla="*/ 5851062 h 8116992"/>
              <a:gd name="csX28" fmla="*/ 2373232 w 8845647"/>
              <a:gd name="csY28" fmla="*/ 8116992 h 8116992"/>
              <a:gd name="csX29" fmla="*/ 0 w 8845647"/>
              <a:gd name="csY29" fmla="*/ 5851062 h 8116992"/>
              <a:gd name="csX30" fmla="*/ 695104 w 8845647"/>
              <a:gd name="csY30" fmla="*/ 4248809 h 8116992"/>
              <a:gd name="csX31" fmla="*/ 2373232 w 8845647"/>
              <a:gd name="csY31" fmla="*/ 3585133 h 8116992"/>
              <a:gd name="csX32" fmla="*/ 4063950 w 8845647"/>
              <a:gd name="csY32" fmla="*/ 3585133 h 8116992"/>
              <a:gd name="csX33" fmla="*/ 4063950 w 8845647"/>
              <a:gd name="csY33" fmla="*/ 3585133 h 8116992"/>
              <a:gd name="csX34" fmla="*/ 4063952 w 8845647"/>
              <a:gd name="csY34" fmla="*/ 3585133 h 8116992"/>
              <a:gd name="csX35" fmla="*/ 4100050 w 8845647"/>
              <a:gd name="csY35" fmla="*/ 2204010 h 8116992"/>
              <a:gd name="csX36" fmla="*/ 4836781 w 8845647"/>
              <a:gd name="csY36" fmla="*/ 620466 h 81169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</a:cxnLst>
            <a:rect l="l" t="t" r="r" b="b"/>
            <a:pathLst>
              <a:path w="8845647" h="8116992">
                <a:moveTo>
                  <a:pt x="5618302" y="1142521"/>
                </a:moveTo>
                <a:cubicBezTo>
                  <a:pt x="5301859" y="1399107"/>
                  <a:pt x="5100518" y="1786974"/>
                  <a:pt x="5101211" y="2220709"/>
                </a:cubicBezTo>
                <a:lnTo>
                  <a:pt x="5103444" y="3616888"/>
                </a:lnTo>
                <a:lnTo>
                  <a:pt x="6529120" y="3614609"/>
                </a:lnTo>
                <a:cubicBezTo>
                  <a:pt x="7316498" y="3613350"/>
                  <a:pt x="7953794" y="2987238"/>
                  <a:pt x="7952562" y="2216150"/>
                </a:cubicBezTo>
                <a:cubicBezTo>
                  <a:pt x="7951329" y="1445062"/>
                  <a:pt x="7312033" y="820991"/>
                  <a:pt x="6524655" y="822250"/>
                </a:cubicBezTo>
                <a:lnTo>
                  <a:pt x="6524654" y="822253"/>
                </a:lnTo>
                <a:cubicBezTo>
                  <a:pt x="6180176" y="822802"/>
                  <a:pt x="5864425" y="942954"/>
                  <a:pt x="5618302" y="1142521"/>
                </a:cubicBezTo>
                <a:close/>
                <a:moveTo>
                  <a:pt x="1491260" y="4751671"/>
                </a:moveTo>
                <a:cubicBezTo>
                  <a:pt x="1181629" y="5016437"/>
                  <a:pt x="990491" y="5409431"/>
                  <a:pt x="1002517" y="5843002"/>
                </a:cubicBezTo>
                <a:cubicBezTo>
                  <a:pt x="1023897" y="6613795"/>
                  <a:pt x="1679280" y="7220949"/>
                  <a:pt x="2466358" y="7199117"/>
                </a:cubicBezTo>
                <a:lnTo>
                  <a:pt x="2466357" y="7199116"/>
                </a:lnTo>
                <a:cubicBezTo>
                  <a:pt x="3253435" y="7177284"/>
                  <a:pt x="3874155" y="6534735"/>
                  <a:pt x="3852775" y="5763942"/>
                </a:cubicBezTo>
                <a:lnTo>
                  <a:pt x="3814063" y="4368299"/>
                </a:lnTo>
                <a:lnTo>
                  <a:pt x="2388934" y="4407828"/>
                </a:lnTo>
                <a:cubicBezTo>
                  <a:pt x="2044588" y="4417380"/>
                  <a:pt x="1732083" y="4545740"/>
                  <a:pt x="1491260" y="4751671"/>
                </a:cubicBezTo>
                <a:close/>
                <a:moveTo>
                  <a:pt x="4836781" y="620466"/>
                </a:moveTo>
                <a:cubicBezTo>
                  <a:pt x="5276820" y="221776"/>
                  <a:pt x="5876553" y="-16259"/>
                  <a:pt x="6531678" y="865"/>
                </a:cubicBezTo>
                <a:cubicBezTo>
                  <a:pt x="7841931" y="35111"/>
                  <a:pt x="8877594" y="1077018"/>
                  <a:pt x="8844894" y="2328029"/>
                </a:cubicBezTo>
                <a:cubicBezTo>
                  <a:pt x="8812196" y="3579041"/>
                  <a:pt x="7723520" y="4565421"/>
                  <a:pt x="6413267" y="4531175"/>
                </a:cubicBezTo>
                <a:lnTo>
                  <a:pt x="4746465" y="4487609"/>
                </a:lnTo>
                <a:lnTo>
                  <a:pt x="4746465" y="3585133"/>
                </a:lnTo>
                <a:lnTo>
                  <a:pt x="4746465" y="3585133"/>
                </a:lnTo>
                <a:lnTo>
                  <a:pt x="4746464" y="4487609"/>
                </a:lnTo>
                <a:lnTo>
                  <a:pt x="4040845" y="4469166"/>
                </a:lnTo>
                <a:lnTo>
                  <a:pt x="4040845" y="4469166"/>
                </a:lnTo>
                <a:lnTo>
                  <a:pt x="4746465" y="4487609"/>
                </a:lnTo>
                <a:lnTo>
                  <a:pt x="4746465" y="5851062"/>
                </a:lnTo>
                <a:cubicBezTo>
                  <a:pt x="4746464" y="7102500"/>
                  <a:pt x="3683932" y="8116991"/>
                  <a:pt x="2373232" y="8116992"/>
                </a:cubicBezTo>
                <a:cubicBezTo>
                  <a:pt x="1062532" y="8116992"/>
                  <a:pt x="0" y="7102500"/>
                  <a:pt x="0" y="5851062"/>
                </a:cubicBezTo>
                <a:cubicBezTo>
                  <a:pt x="0" y="5225343"/>
                  <a:pt x="265633" y="4658861"/>
                  <a:pt x="695104" y="4248809"/>
                </a:cubicBezTo>
                <a:cubicBezTo>
                  <a:pt x="1124574" y="3838756"/>
                  <a:pt x="1717882" y="3585133"/>
                  <a:pt x="2373232" y="3585133"/>
                </a:cubicBezTo>
                <a:lnTo>
                  <a:pt x="4063950" y="3585133"/>
                </a:lnTo>
                <a:lnTo>
                  <a:pt x="4063950" y="3585133"/>
                </a:lnTo>
                <a:lnTo>
                  <a:pt x="4063952" y="3585133"/>
                </a:lnTo>
                <a:lnTo>
                  <a:pt x="4100050" y="2204010"/>
                </a:lnTo>
                <a:cubicBezTo>
                  <a:pt x="4116400" y="1578505"/>
                  <a:pt x="4396744" y="1019157"/>
                  <a:pt x="4836781" y="62046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60000"/>
                  <a:lumOff val="40000"/>
                </a:schemeClr>
              </a:gs>
              <a:gs pos="74000">
                <a:schemeClr val="accent1">
                  <a:lumMod val="60000"/>
                  <a:lumOff val="40000"/>
                </a:schemeClr>
              </a:gs>
              <a:gs pos="83000">
                <a:schemeClr val="accent4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path path="rect">
              <a:fillToRect r="100000" b="100000"/>
            </a:path>
            <a:tileRect l="-100000" t="-100000"/>
          </a:gradFill>
          <a:ln>
            <a:noFill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27479F7-1858-C5E0-1344-EDCE956BDA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6859" y="2726645"/>
            <a:ext cx="779485" cy="77948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A941B3F-1D25-0E84-B5CF-9EA112EDBC27}"/>
              </a:ext>
            </a:extLst>
          </p:cNvPr>
          <p:cNvSpPr txBox="1"/>
          <p:nvPr/>
        </p:nvSpPr>
        <p:spPr>
          <a:xfrm>
            <a:off x="6481902" y="2871448"/>
            <a:ext cx="13552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b="1" dirty="0">
                <a:solidFill>
                  <a:srgbClr val="0A0662"/>
                </a:solidFill>
                <a:latin typeface="Arial Black" panose="020B0A04020102020204" pitchFamily="34" charset="0"/>
              </a:rPr>
              <a:t>Meta</a:t>
            </a:r>
          </a:p>
          <a:p>
            <a:pPr algn="ctr"/>
            <a:r>
              <a:rPr lang="en-IN" sz="1400" dirty="0">
                <a:solidFill>
                  <a:srgbClr val="0A0662"/>
                </a:solidFill>
                <a:latin typeface="Arial Black" panose="020B0A04020102020204" pitchFamily="34" charset="0"/>
              </a:rPr>
              <a:t> </a:t>
            </a:r>
            <a:r>
              <a:rPr lang="en-IN" sz="1400" dirty="0">
                <a:solidFill>
                  <a:srgbClr val="0A06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Ads </a:t>
            </a:r>
            <a:r>
              <a:rPr lang="en-IN" sz="1200" dirty="0">
                <a:solidFill>
                  <a:srgbClr val="0A06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Campaign</a:t>
            </a:r>
            <a:endParaRPr lang="en-IN" sz="1400" dirty="0">
              <a:solidFill>
                <a:srgbClr val="0A066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: Diagonal Corners Rounded 12">
            <a:extLst>
              <a:ext uri="{FF2B5EF4-FFF2-40B4-BE49-F238E27FC236}">
                <a16:creationId xmlns:a16="http://schemas.microsoft.com/office/drawing/2014/main" id="{AB9C873A-03B6-A1FB-17AE-66C1794A89E7}"/>
              </a:ext>
            </a:extLst>
          </p:cNvPr>
          <p:cNvSpPr/>
          <p:nvPr/>
        </p:nvSpPr>
        <p:spPr>
          <a:xfrm>
            <a:off x="5198805" y="350108"/>
            <a:ext cx="2160000" cy="1079795"/>
          </a:xfrm>
          <a:prstGeom prst="round2Diag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dirty="0">
              <a:solidFill>
                <a:srgbClr val="0A0662"/>
              </a:solidFill>
            </a:endParaRPr>
          </a:p>
        </p:txBody>
      </p:sp>
      <p:sp>
        <p:nvSpPr>
          <p:cNvPr id="14" name="Rectangle: Diagonal Corners Rounded 13">
            <a:extLst>
              <a:ext uri="{FF2B5EF4-FFF2-40B4-BE49-F238E27FC236}">
                <a16:creationId xmlns:a16="http://schemas.microsoft.com/office/drawing/2014/main" id="{E5B98656-F61D-7C36-91C2-775FDE1D12FD}"/>
              </a:ext>
            </a:extLst>
          </p:cNvPr>
          <p:cNvSpPr/>
          <p:nvPr/>
        </p:nvSpPr>
        <p:spPr>
          <a:xfrm>
            <a:off x="8332370" y="386382"/>
            <a:ext cx="2160000" cy="1079795"/>
          </a:xfrm>
          <a:prstGeom prst="round2Diag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rgbClr val="0A0662"/>
              </a:solidFill>
            </a:endParaRPr>
          </a:p>
        </p:txBody>
      </p:sp>
      <p:sp>
        <p:nvSpPr>
          <p:cNvPr id="15" name="Rectangle: Diagonal Corners Rounded 14">
            <a:extLst>
              <a:ext uri="{FF2B5EF4-FFF2-40B4-BE49-F238E27FC236}">
                <a16:creationId xmlns:a16="http://schemas.microsoft.com/office/drawing/2014/main" id="{5877BBEF-ED00-CC75-3122-5DC40BFDEDCB}"/>
              </a:ext>
            </a:extLst>
          </p:cNvPr>
          <p:cNvSpPr/>
          <p:nvPr/>
        </p:nvSpPr>
        <p:spPr>
          <a:xfrm>
            <a:off x="9369645" y="2219416"/>
            <a:ext cx="2160000" cy="1079795"/>
          </a:xfrm>
          <a:prstGeom prst="round2Diag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rgbClr val="0A0662"/>
              </a:solidFill>
            </a:endParaRPr>
          </a:p>
        </p:txBody>
      </p:sp>
      <p:sp>
        <p:nvSpPr>
          <p:cNvPr id="16" name="Rectangle: Diagonal Corners Rounded 15">
            <a:extLst>
              <a:ext uri="{FF2B5EF4-FFF2-40B4-BE49-F238E27FC236}">
                <a16:creationId xmlns:a16="http://schemas.microsoft.com/office/drawing/2014/main" id="{CDBA9309-CC0B-F5E2-0677-CDEB43042863}"/>
              </a:ext>
            </a:extLst>
          </p:cNvPr>
          <p:cNvSpPr/>
          <p:nvPr/>
        </p:nvSpPr>
        <p:spPr>
          <a:xfrm>
            <a:off x="8424024" y="5432698"/>
            <a:ext cx="2160000" cy="1079795"/>
          </a:xfrm>
          <a:prstGeom prst="round2Diag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rgbClr val="0A0662"/>
              </a:solidFill>
            </a:endParaRPr>
          </a:p>
        </p:txBody>
      </p:sp>
      <p:sp>
        <p:nvSpPr>
          <p:cNvPr id="17" name="Rectangle: Diagonal Corners Rounded 16">
            <a:extLst>
              <a:ext uri="{FF2B5EF4-FFF2-40B4-BE49-F238E27FC236}">
                <a16:creationId xmlns:a16="http://schemas.microsoft.com/office/drawing/2014/main" id="{EB409811-DCED-8D52-CD08-AD61BCD6234C}"/>
              </a:ext>
            </a:extLst>
          </p:cNvPr>
          <p:cNvSpPr/>
          <p:nvPr/>
        </p:nvSpPr>
        <p:spPr>
          <a:xfrm>
            <a:off x="5198805" y="5390205"/>
            <a:ext cx="2160000" cy="1079795"/>
          </a:xfrm>
          <a:prstGeom prst="round2Diag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rgbClr val="0A0662"/>
              </a:solidFill>
            </a:endParaRPr>
          </a:p>
        </p:txBody>
      </p:sp>
      <p:sp>
        <p:nvSpPr>
          <p:cNvPr id="18" name="Rectangle: Diagonal Corners Rounded 17">
            <a:extLst>
              <a:ext uri="{FF2B5EF4-FFF2-40B4-BE49-F238E27FC236}">
                <a16:creationId xmlns:a16="http://schemas.microsoft.com/office/drawing/2014/main" id="{5FF46D50-0DB1-0B9E-6DC9-7AC6A420D1EA}"/>
              </a:ext>
            </a:extLst>
          </p:cNvPr>
          <p:cNvSpPr/>
          <p:nvPr/>
        </p:nvSpPr>
        <p:spPr>
          <a:xfrm>
            <a:off x="1943466" y="5380198"/>
            <a:ext cx="2160000" cy="1079795"/>
          </a:xfrm>
          <a:prstGeom prst="round2Diag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rgbClr val="0A0662"/>
              </a:solidFill>
            </a:endParaRPr>
          </a:p>
        </p:txBody>
      </p:sp>
      <p:sp>
        <p:nvSpPr>
          <p:cNvPr id="19" name="Rectangle: Diagonal Corners Rounded 18">
            <a:extLst>
              <a:ext uri="{FF2B5EF4-FFF2-40B4-BE49-F238E27FC236}">
                <a16:creationId xmlns:a16="http://schemas.microsoft.com/office/drawing/2014/main" id="{3ED0B226-6EC5-4140-F1B1-7C8664297846}"/>
              </a:ext>
            </a:extLst>
          </p:cNvPr>
          <p:cNvSpPr/>
          <p:nvPr/>
        </p:nvSpPr>
        <p:spPr>
          <a:xfrm>
            <a:off x="684691" y="2079364"/>
            <a:ext cx="2160000" cy="1079795"/>
          </a:xfrm>
          <a:prstGeom prst="round2Diag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rgbClr val="0A0662"/>
              </a:solidFill>
            </a:endParaRPr>
          </a:p>
        </p:txBody>
      </p:sp>
      <p:sp>
        <p:nvSpPr>
          <p:cNvPr id="20" name="Rectangle: Diagonal Corners Rounded 19">
            <a:extLst>
              <a:ext uri="{FF2B5EF4-FFF2-40B4-BE49-F238E27FC236}">
                <a16:creationId xmlns:a16="http://schemas.microsoft.com/office/drawing/2014/main" id="{F2055E88-5450-2B2C-A285-6EB0DF631C42}"/>
              </a:ext>
            </a:extLst>
          </p:cNvPr>
          <p:cNvSpPr/>
          <p:nvPr/>
        </p:nvSpPr>
        <p:spPr>
          <a:xfrm>
            <a:off x="2238287" y="345507"/>
            <a:ext cx="2160000" cy="1080000"/>
          </a:xfrm>
          <a:prstGeom prst="round2Diag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dirty="0">
              <a:solidFill>
                <a:srgbClr val="0A0662"/>
              </a:solidFill>
            </a:endParaRPr>
          </a:p>
        </p:txBody>
      </p:sp>
      <p:sp>
        <p:nvSpPr>
          <p:cNvPr id="21" name="Rectangle: Diagonal Corners Rounded 20">
            <a:extLst>
              <a:ext uri="{FF2B5EF4-FFF2-40B4-BE49-F238E27FC236}">
                <a16:creationId xmlns:a16="http://schemas.microsoft.com/office/drawing/2014/main" id="{9348A7A1-0F6B-9B6B-A3EF-6841E1CCBC2E}"/>
              </a:ext>
            </a:extLst>
          </p:cNvPr>
          <p:cNvSpPr/>
          <p:nvPr/>
        </p:nvSpPr>
        <p:spPr>
          <a:xfrm>
            <a:off x="9386848" y="3916694"/>
            <a:ext cx="2160000" cy="1079795"/>
          </a:xfrm>
          <a:prstGeom prst="round2Diag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rgbClr val="0A0662"/>
              </a:solidFill>
            </a:endParaRPr>
          </a:p>
        </p:txBody>
      </p:sp>
      <p:sp>
        <p:nvSpPr>
          <p:cNvPr id="22" name="Rectangle: Diagonal Corners Rounded 21">
            <a:extLst>
              <a:ext uri="{FF2B5EF4-FFF2-40B4-BE49-F238E27FC236}">
                <a16:creationId xmlns:a16="http://schemas.microsoft.com/office/drawing/2014/main" id="{710C5D31-FB20-2B66-1A1F-8CD1682B18EE}"/>
              </a:ext>
            </a:extLst>
          </p:cNvPr>
          <p:cNvSpPr/>
          <p:nvPr/>
        </p:nvSpPr>
        <p:spPr>
          <a:xfrm>
            <a:off x="645152" y="3870391"/>
            <a:ext cx="2160000" cy="1079795"/>
          </a:xfrm>
          <a:prstGeom prst="round2Diag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rgbClr val="0A0662"/>
              </a:solidFill>
            </a:endParaRPr>
          </a:p>
        </p:txBody>
      </p:sp>
      <p:sp>
        <p:nvSpPr>
          <p:cNvPr id="23" name="TextBox 14">
            <a:extLst>
              <a:ext uri="{FF2B5EF4-FFF2-40B4-BE49-F238E27FC236}">
                <a16:creationId xmlns:a16="http://schemas.microsoft.com/office/drawing/2014/main" id="{1C60D736-F5B6-E16E-03CE-1DE718DE4EF4}"/>
              </a:ext>
            </a:extLst>
          </p:cNvPr>
          <p:cNvSpPr txBox="1"/>
          <p:nvPr/>
        </p:nvSpPr>
        <p:spPr>
          <a:xfrm>
            <a:off x="2299657" y="583154"/>
            <a:ext cx="13364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200" b="1" dirty="0">
                <a:solidFill>
                  <a:srgbClr val="0A0662"/>
                </a:solidFill>
              </a:rPr>
              <a:t>Audience Research And Segmentation</a:t>
            </a:r>
          </a:p>
        </p:txBody>
      </p:sp>
      <p:sp>
        <p:nvSpPr>
          <p:cNvPr id="24" name="TextBox 29">
            <a:extLst>
              <a:ext uri="{FF2B5EF4-FFF2-40B4-BE49-F238E27FC236}">
                <a16:creationId xmlns:a16="http://schemas.microsoft.com/office/drawing/2014/main" id="{5C3800DB-5E5F-C286-6776-03337AFA9750}"/>
              </a:ext>
            </a:extLst>
          </p:cNvPr>
          <p:cNvSpPr txBox="1"/>
          <p:nvPr/>
        </p:nvSpPr>
        <p:spPr>
          <a:xfrm>
            <a:off x="5325395" y="572875"/>
            <a:ext cx="10597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200" b="1" dirty="0">
                <a:solidFill>
                  <a:srgbClr val="0A0662"/>
                </a:solidFill>
              </a:rPr>
              <a:t>Campaign Objective Selection</a:t>
            </a:r>
          </a:p>
        </p:txBody>
      </p:sp>
      <p:sp>
        <p:nvSpPr>
          <p:cNvPr id="25" name="TextBox 33">
            <a:extLst>
              <a:ext uri="{FF2B5EF4-FFF2-40B4-BE49-F238E27FC236}">
                <a16:creationId xmlns:a16="http://schemas.microsoft.com/office/drawing/2014/main" id="{55E91504-9A4D-AABC-AD59-FD463A2F058D}"/>
              </a:ext>
            </a:extLst>
          </p:cNvPr>
          <p:cNvSpPr txBox="1"/>
          <p:nvPr/>
        </p:nvSpPr>
        <p:spPr>
          <a:xfrm>
            <a:off x="8323852" y="556551"/>
            <a:ext cx="11855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200" b="1" dirty="0">
                <a:solidFill>
                  <a:srgbClr val="0A0662"/>
                </a:solidFill>
              </a:rPr>
              <a:t>Add Sets Creation And Targeting</a:t>
            </a:r>
          </a:p>
        </p:txBody>
      </p:sp>
      <p:sp>
        <p:nvSpPr>
          <p:cNvPr id="26" name="TextBox 37">
            <a:extLst>
              <a:ext uri="{FF2B5EF4-FFF2-40B4-BE49-F238E27FC236}">
                <a16:creationId xmlns:a16="http://schemas.microsoft.com/office/drawing/2014/main" id="{B295A412-24B7-84CE-6546-B7B3BF70EA19}"/>
              </a:ext>
            </a:extLst>
          </p:cNvPr>
          <p:cNvSpPr txBox="1"/>
          <p:nvPr/>
        </p:nvSpPr>
        <p:spPr>
          <a:xfrm>
            <a:off x="9369645" y="2408658"/>
            <a:ext cx="11855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200" b="1" dirty="0">
                <a:solidFill>
                  <a:srgbClr val="0A0662"/>
                </a:solidFill>
              </a:rPr>
              <a:t>Ad Creative Design And Optimization</a:t>
            </a:r>
          </a:p>
        </p:txBody>
      </p:sp>
      <p:sp>
        <p:nvSpPr>
          <p:cNvPr id="27" name="TextBox 39">
            <a:extLst>
              <a:ext uri="{FF2B5EF4-FFF2-40B4-BE49-F238E27FC236}">
                <a16:creationId xmlns:a16="http://schemas.microsoft.com/office/drawing/2014/main" id="{CFF486EC-55AC-AC6C-6C53-1F147279FB09}"/>
              </a:ext>
            </a:extLst>
          </p:cNvPr>
          <p:cNvSpPr txBox="1"/>
          <p:nvPr/>
        </p:nvSpPr>
        <p:spPr>
          <a:xfrm>
            <a:off x="9400532" y="4088446"/>
            <a:ext cx="11855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200" b="1" dirty="0">
                <a:solidFill>
                  <a:srgbClr val="0A0662"/>
                </a:solidFill>
              </a:rPr>
              <a:t>Budget And Bidding Strategy</a:t>
            </a:r>
          </a:p>
        </p:txBody>
      </p:sp>
      <p:sp>
        <p:nvSpPr>
          <p:cNvPr id="28" name="TextBox 41">
            <a:extLst>
              <a:ext uri="{FF2B5EF4-FFF2-40B4-BE49-F238E27FC236}">
                <a16:creationId xmlns:a16="http://schemas.microsoft.com/office/drawing/2014/main" id="{F4BEF1DA-96A3-3E57-4AF9-E8985288E55A}"/>
              </a:ext>
            </a:extLst>
          </p:cNvPr>
          <p:cNvSpPr txBox="1"/>
          <p:nvPr/>
        </p:nvSpPr>
        <p:spPr>
          <a:xfrm>
            <a:off x="8454144" y="5662044"/>
            <a:ext cx="11855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200" b="1" dirty="0">
                <a:solidFill>
                  <a:srgbClr val="0A0662"/>
                </a:solidFill>
              </a:rPr>
              <a:t>Tracking And Performance Monitoring</a:t>
            </a:r>
          </a:p>
        </p:txBody>
      </p:sp>
      <p:sp>
        <p:nvSpPr>
          <p:cNvPr id="29" name="TextBox 43">
            <a:extLst>
              <a:ext uri="{FF2B5EF4-FFF2-40B4-BE49-F238E27FC236}">
                <a16:creationId xmlns:a16="http://schemas.microsoft.com/office/drawing/2014/main" id="{93503524-65EE-F216-E5A6-FF110239BEAE}"/>
              </a:ext>
            </a:extLst>
          </p:cNvPr>
          <p:cNvSpPr txBox="1"/>
          <p:nvPr/>
        </p:nvSpPr>
        <p:spPr>
          <a:xfrm>
            <a:off x="5180075" y="5603129"/>
            <a:ext cx="11855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200" b="1" dirty="0">
                <a:solidFill>
                  <a:srgbClr val="0A0662"/>
                </a:solidFill>
              </a:rPr>
              <a:t>A/ B Testing And Creative Enhancement</a:t>
            </a:r>
          </a:p>
        </p:txBody>
      </p:sp>
      <p:sp>
        <p:nvSpPr>
          <p:cNvPr id="30" name="TextBox 45">
            <a:extLst>
              <a:ext uri="{FF2B5EF4-FFF2-40B4-BE49-F238E27FC236}">
                <a16:creationId xmlns:a16="http://schemas.microsoft.com/office/drawing/2014/main" id="{C8C6E6C3-D007-2963-04A1-402193FAE237}"/>
              </a:ext>
            </a:extLst>
          </p:cNvPr>
          <p:cNvSpPr txBox="1"/>
          <p:nvPr/>
        </p:nvSpPr>
        <p:spPr>
          <a:xfrm>
            <a:off x="1870449" y="5514603"/>
            <a:ext cx="11855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200" b="1" dirty="0">
                <a:solidFill>
                  <a:srgbClr val="0A0662"/>
                </a:solidFill>
              </a:rPr>
              <a:t>Audience Expansion And Retargeting</a:t>
            </a:r>
          </a:p>
        </p:txBody>
      </p:sp>
      <p:sp>
        <p:nvSpPr>
          <p:cNvPr id="31" name="TextBox 47">
            <a:extLst>
              <a:ext uri="{FF2B5EF4-FFF2-40B4-BE49-F238E27FC236}">
                <a16:creationId xmlns:a16="http://schemas.microsoft.com/office/drawing/2014/main" id="{90CEF473-C020-5826-113C-39E264FAAED3}"/>
              </a:ext>
            </a:extLst>
          </p:cNvPr>
          <p:cNvSpPr txBox="1"/>
          <p:nvPr/>
        </p:nvSpPr>
        <p:spPr>
          <a:xfrm>
            <a:off x="678843" y="4134476"/>
            <a:ext cx="11855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200" b="1" dirty="0">
                <a:solidFill>
                  <a:srgbClr val="0A0662"/>
                </a:solidFill>
              </a:rPr>
              <a:t>Landing Page Optimization</a:t>
            </a:r>
          </a:p>
        </p:txBody>
      </p:sp>
      <p:sp>
        <p:nvSpPr>
          <p:cNvPr id="32" name="TextBox 49">
            <a:extLst>
              <a:ext uri="{FF2B5EF4-FFF2-40B4-BE49-F238E27FC236}">
                <a16:creationId xmlns:a16="http://schemas.microsoft.com/office/drawing/2014/main" id="{A06EDF7A-374F-8833-390A-EE2D68E875E9}"/>
              </a:ext>
            </a:extLst>
          </p:cNvPr>
          <p:cNvSpPr txBox="1"/>
          <p:nvPr/>
        </p:nvSpPr>
        <p:spPr>
          <a:xfrm>
            <a:off x="646100" y="2203762"/>
            <a:ext cx="11855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200" b="1" dirty="0">
                <a:solidFill>
                  <a:srgbClr val="0A0662"/>
                </a:solidFill>
              </a:rPr>
              <a:t>Conversion Tracking And Champion Optimization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320EC33A-EDD9-B95F-CFD2-0A9B1B7419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6146" y="636319"/>
            <a:ext cx="540000" cy="5400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040FD97F-7A04-7E09-1BCF-E30591638E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0894" y="587473"/>
            <a:ext cx="552450" cy="55245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FD032EAD-8926-3D22-3E27-089BDFEBC6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83341" y="648908"/>
            <a:ext cx="540000" cy="5400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68C93A49-9A17-AD08-9C10-FD2B346FA63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08261" y="2515090"/>
            <a:ext cx="540000" cy="5400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05782348-AE42-F035-36CD-1356EED1CFA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03901" y="4186590"/>
            <a:ext cx="540000" cy="54000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D49D9044-CF08-DBF6-BAB2-56C99182EF5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44559" y="5702595"/>
            <a:ext cx="540000" cy="5400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7B5E7AB1-88D6-3E38-56B7-3F5912EF43A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28241" y="5715209"/>
            <a:ext cx="540000" cy="5400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2CB4245B-48F0-E22A-8C3F-006498C9460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06863" y="5639457"/>
            <a:ext cx="540000" cy="54000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EC17C258-8FD4-81AF-5778-64791BB4EB2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15462" y="4162180"/>
            <a:ext cx="540000" cy="54000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7DC67E56-1CF3-392A-8E62-DC90E5F9403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55559" y="2357406"/>
            <a:ext cx="5400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431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F67CFD0-E124-C882-7801-54FCEC0082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031BD-3096-80FA-6F27-8A16141615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latin typeface="Arial Rounded MT Bold" panose="020F0704030504030204" pitchFamily="34" charset="0"/>
              </a:rPr>
              <a:t>                       Meta Ads Platform Overview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5A5742-8BE1-9274-18F2-E3427DBD06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FilmGrain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6950" y="97957"/>
            <a:ext cx="949093" cy="8813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A6683D-A90E-CE6C-79E2-64D0CD805A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4155" y="24712"/>
            <a:ext cx="779485" cy="779485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CBA6C21-20E4-44D4-20DD-B8B7788C3E97}"/>
              </a:ext>
            </a:extLst>
          </p:cNvPr>
          <p:cNvCxnSpPr>
            <a:cxnSpLocks/>
          </p:cNvCxnSpPr>
          <p:nvPr/>
        </p:nvCxnSpPr>
        <p:spPr>
          <a:xfrm>
            <a:off x="2153122" y="621003"/>
            <a:ext cx="5983880" cy="3272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35B0F463-34F4-0F1E-0E82-EB28749C2E3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885" y="1425200"/>
            <a:ext cx="10286229" cy="486584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16116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5F79F06-79EA-1A72-998B-532C7E3060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8BBB1-981A-B02C-7BED-2A4B4323A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latin typeface="Arial Rounded MT Bold" panose="020F0704030504030204" pitchFamily="34" charset="0"/>
              </a:rPr>
              <a:t>                    Reach The Right People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EE63AA-3C90-F2BE-B038-DB001EB2D3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613" y="1797261"/>
            <a:ext cx="9929051" cy="462484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434C98D-032B-DBF4-22E1-D09F9CEA7F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FilmGrain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2264" y="192689"/>
            <a:ext cx="838969" cy="7791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4C2AD9-B091-3842-4036-4F804903BD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5099" y="0"/>
            <a:ext cx="689041" cy="689041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ADD2771-8091-FA91-7E8E-BFE65228B7C3}"/>
              </a:ext>
            </a:extLst>
          </p:cNvPr>
          <p:cNvCxnSpPr>
            <a:cxnSpLocks/>
          </p:cNvCxnSpPr>
          <p:nvPr/>
        </p:nvCxnSpPr>
        <p:spPr>
          <a:xfrm>
            <a:off x="1886904" y="582249"/>
            <a:ext cx="524310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2786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DED0435-FC2D-285F-2C4B-BEE593ABFD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2704"/>
            <a:ext cx="12192000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C2D18-B767-44E7-41B0-A182D9036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                        </a:t>
            </a:r>
            <a:r>
              <a:rPr lang="en-US" sz="3200" b="1" dirty="0">
                <a:latin typeface="Arial Rounded MT Bold" panose="020F0704030504030204" pitchFamily="34" charset="0"/>
              </a:rPr>
              <a:t>Gets Started With Ads Manager</a:t>
            </a:r>
            <a:endParaRPr lang="en-US" b="1" dirty="0">
              <a:latin typeface="Arial Rounded MT Bold" panose="020F07040305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44FC6F-95AD-4774-8438-F5B96FB234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FilmGrain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8958" y="111967"/>
            <a:ext cx="838969" cy="7791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772C76F-D125-3B41-3C9B-F4E868BF39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9297" y="62704"/>
            <a:ext cx="689041" cy="6890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87C23B7-B746-46A9-CA7C-6C6F41CA10A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58" t="8184" r="17019" b="18159"/>
          <a:stretch>
            <a:fillRect/>
          </a:stretch>
        </p:blipFill>
        <p:spPr>
          <a:xfrm>
            <a:off x="81636" y="2102628"/>
            <a:ext cx="5566809" cy="296707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CCF6F65-9C32-FB8E-C548-8E421E75C61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86806" y="2065210"/>
            <a:ext cx="6223558" cy="300449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C6174B-D5B6-A9A2-8754-100787A4521B}"/>
              </a:ext>
            </a:extLst>
          </p:cNvPr>
          <p:cNvCxnSpPr>
            <a:cxnSpLocks/>
          </p:cNvCxnSpPr>
          <p:nvPr/>
        </p:nvCxnSpPr>
        <p:spPr>
          <a:xfrm>
            <a:off x="1967339" y="647573"/>
            <a:ext cx="702619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3064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A2A315F-5E1E-202A-4A43-3C5FC861B8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19D59-5EA5-33C1-D60C-A5DE103F84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                       </a:t>
            </a:r>
            <a:r>
              <a:rPr lang="en-US" sz="3200" b="1" dirty="0">
                <a:latin typeface="Arial Rounded MT Bold" panose="020F0704030504030204" pitchFamily="34" charset="0"/>
              </a:rPr>
              <a:t>Campaign Setup Manual Traffic</a:t>
            </a:r>
            <a:endParaRPr lang="en-US" b="1" dirty="0">
              <a:latin typeface="Arial Rounded MT Bold" panose="020F07040305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3C330F-08D7-E9B8-C8F6-3BF27BCA58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FilmGrain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8958" y="111967"/>
            <a:ext cx="838969" cy="7791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DB327F-582E-6D54-EF98-8A0ABCD020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9120" y="111967"/>
            <a:ext cx="689041" cy="6890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9B5C6C-D405-9525-4DF4-67EF9AECB0F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36" t="14291" r="24050"/>
          <a:stretch>
            <a:fillRect/>
          </a:stretch>
        </p:blipFill>
        <p:spPr>
          <a:xfrm>
            <a:off x="208958" y="1778921"/>
            <a:ext cx="5254250" cy="442102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1CE85BB-70E8-F27F-EABB-F8255E7C9AC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63" t="16537" r="16551" b="19247"/>
          <a:stretch>
            <a:fillRect/>
          </a:stretch>
        </p:blipFill>
        <p:spPr>
          <a:xfrm>
            <a:off x="5672166" y="1778921"/>
            <a:ext cx="6064847" cy="337247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416993B-CF17-CB72-5E73-80B84F9238E8}"/>
              </a:ext>
            </a:extLst>
          </p:cNvPr>
          <p:cNvCxnSpPr>
            <a:cxnSpLocks/>
          </p:cNvCxnSpPr>
          <p:nvPr/>
        </p:nvCxnSpPr>
        <p:spPr>
          <a:xfrm flipV="1">
            <a:off x="2037375" y="636157"/>
            <a:ext cx="6597340" cy="2514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582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1A9E20B-C12E-027A-6BD8-D43A11421F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896" y="0"/>
            <a:ext cx="12192000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E721E-3053-6395-8AAF-56E87FD95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                     </a:t>
            </a:r>
            <a:r>
              <a:rPr lang="en-US" b="1" dirty="0">
                <a:latin typeface="Arial Rounded MT Bold" panose="020F0704030504030204" pitchFamily="34" charset="0"/>
              </a:rPr>
              <a:t>Budget Strategy &amp; Biding Selection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461E92-B60D-6908-4C52-98C13BE779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FilmGrain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3603" y="167951"/>
            <a:ext cx="838969" cy="7791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1AF5296-DB48-4653-E68B-435B83667C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672" y="167951"/>
            <a:ext cx="689041" cy="6890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9C5518E-D54D-6C69-F373-3DC006405FE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11" t="16179" r="5324"/>
          <a:stretch>
            <a:fillRect/>
          </a:stretch>
        </p:blipFill>
        <p:spPr>
          <a:xfrm>
            <a:off x="144437" y="2231161"/>
            <a:ext cx="5654479" cy="346989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C144EE-9701-7238-9F35-3C90455CB85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22" t="15156" r="4456" b="2276"/>
          <a:stretch>
            <a:fillRect/>
          </a:stretch>
        </p:blipFill>
        <p:spPr>
          <a:xfrm>
            <a:off x="6084425" y="2231162"/>
            <a:ext cx="5950444" cy="346989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906A7AF-7C1B-F8AD-AB7C-FA78093DF3FE}"/>
              </a:ext>
            </a:extLst>
          </p:cNvPr>
          <p:cNvCxnSpPr>
            <a:cxnSpLocks/>
          </p:cNvCxnSpPr>
          <p:nvPr/>
        </p:nvCxnSpPr>
        <p:spPr>
          <a:xfrm>
            <a:off x="1875330" y="582660"/>
            <a:ext cx="655103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79860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0AD88EC-5FDD-F719-5517-12861CE023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15FB8-98A2-C17B-CBE6-B13AC51BF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Arial Rounded MT Bold" panose="020F0704030504030204" pitchFamily="34" charset="0"/>
              </a:rPr>
              <a:t>                            Location Targeting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63E988-54FE-54E1-26A9-2291007131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FilmGrain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9627" y="93306"/>
            <a:ext cx="838969" cy="7791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7C274B1-DDD7-70C6-1469-B7EB8CF98E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6068" y="88464"/>
            <a:ext cx="689041" cy="6890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966533-9653-2615-D14D-F332A598EB2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2451" t="5823" r="7666" b="1"/>
          <a:stretch>
            <a:fillRect/>
          </a:stretch>
        </p:blipFill>
        <p:spPr>
          <a:xfrm>
            <a:off x="1751677" y="1420247"/>
            <a:ext cx="5721781" cy="506157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9AFCBE6-77C7-BDB6-336F-26B7B2B9F19E}"/>
              </a:ext>
            </a:extLst>
          </p:cNvPr>
          <p:cNvCxnSpPr>
            <a:cxnSpLocks/>
          </p:cNvCxnSpPr>
          <p:nvPr/>
        </p:nvCxnSpPr>
        <p:spPr>
          <a:xfrm>
            <a:off x="2083673" y="542739"/>
            <a:ext cx="436342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23991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5649E5A-895C-B30A-A8FC-176F2F1C49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3CFDB-4CCE-A4B8-627F-257F5FE17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latin typeface="Arial Rounded MT Bold" panose="020F0704030504030204" pitchFamily="34" charset="0"/>
              </a:rPr>
              <a:t>                              Conversion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66A264-422B-D8AF-45DF-20B244B95E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FilmGrain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06181" y="147720"/>
            <a:ext cx="780087" cy="7244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12FB5E8-41E0-02B4-620F-7E2DEB143F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9227" y="147720"/>
            <a:ext cx="689041" cy="6890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F3FAC3A-67D4-FCFC-9782-40485B3471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73747" y="1456276"/>
            <a:ext cx="6799864" cy="517716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1364711-BAA4-900B-4C7F-B2B81A256095}"/>
              </a:ext>
            </a:extLst>
          </p:cNvPr>
          <p:cNvCxnSpPr>
            <a:cxnSpLocks/>
          </p:cNvCxnSpPr>
          <p:nvPr/>
        </p:nvCxnSpPr>
        <p:spPr>
          <a:xfrm>
            <a:off x="2592959" y="592309"/>
            <a:ext cx="337957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50540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D03A257C-0B56-59E4-5055-0D0A2ACC69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F44F2-4988-B7EA-329A-8E7464D38B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latin typeface="Arial Rounded MT Bold" panose="020F0704030504030204" pitchFamily="34" charset="0"/>
              </a:rPr>
              <a:t>                      Instagram Connection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2F0B94-6E26-380C-59D7-FA5B622AD9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FilmGrain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9963" y="194019"/>
            <a:ext cx="780087" cy="7244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210074-308C-7B71-8CFA-F647E415C1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4804" y="229417"/>
            <a:ext cx="689041" cy="68904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21254D6-7574-2B46-CE0A-56EE9834FD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5104" y="1417541"/>
            <a:ext cx="6274628" cy="477727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EDE16B9-BF31-E025-65D2-21A005D4BA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0327" y="1417541"/>
            <a:ext cx="5115276" cy="477727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46A403C-2B64-21A2-A2C6-51F30E7E3F6C}"/>
              </a:ext>
            </a:extLst>
          </p:cNvPr>
          <p:cNvCxnSpPr>
            <a:cxnSpLocks/>
          </p:cNvCxnSpPr>
          <p:nvPr/>
        </p:nvCxnSpPr>
        <p:spPr>
          <a:xfrm>
            <a:off x="1852180" y="627033"/>
            <a:ext cx="524310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91867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269A319-C4AA-B94A-DEE8-FF1C44AEAE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2CF2A-21BC-8C15-BC45-C8A4515B2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latin typeface="Arial Rounded MT Bold" panose="020F0704030504030204" pitchFamily="34" charset="0"/>
              </a:rPr>
              <a:t>                  Audience Setup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686EA7-C8C9-7168-A7EC-2173F69E94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FilmGrain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9963" y="194019"/>
            <a:ext cx="780087" cy="7244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86944F-73EB-0427-23CD-AA6EFF2087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2774" y="194019"/>
            <a:ext cx="689041" cy="6890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57C09B-1594-E288-7D1A-DE5E01B0C02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06" t="14291"/>
          <a:stretch>
            <a:fillRect/>
          </a:stretch>
        </p:blipFill>
        <p:spPr>
          <a:xfrm>
            <a:off x="241037" y="1730659"/>
            <a:ext cx="5637384" cy="4030292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A26F32-F852-FDA1-07BA-98569D063CD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44" t="19401"/>
          <a:stretch>
            <a:fillRect/>
          </a:stretch>
        </p:blipFill>
        <p:spPr>
          <a:xfrm>
            <a:off x="6044534" y="1730659"/>
            <a:ext cx="5981353" cy="4030292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970CF59-0D46-52CA-A9EF-E8937F2E94EE}"/>
              </a:ext>
            </a:extLst>
          </p:cNvPr>
          <p:cNvCxnSpPr>
            <a:cxnSpLocks/>
          </p:cNvCxnSpPr>
          <p:nvPr/>
        </p:nvCxnSpPr>
        <p:spPr>
          <a:xfrm>
            <a:off x="1609110" y="633609"/>
            <a:ext cx="37962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86243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394B48F-ECB2-A2D5-A2A0-7A5C075875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05113-4F9D-AF0A-0363-4B596E789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latin typeface="Arial Rounded MT Bold" panose="020F0704030504030204" pitchFamily="34" charset="0"/>
              </a:rPr>
              <a:t>               Post Selection For Ads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EF93D7-E4F0-A4BC-7586-63079D16FC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FilmGrain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4020" y="119873"/>
            <a:ext cx="780087" cy="7244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35A81F4-58F5-7EF4-BCAD-D5397D903D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7487" y="137571"/>
            <a:ext cx="689041" cy="6890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DBD2B6-1A29-EB6B-A48B-A6DB42EDEA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960" y="1241627"/>
            <a:ext cx="10150754" cy="533740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928AD06-DA5B-A71E-E32A-19F47D9A01C4}"/>
              </a:ext>
            </a:extLst>
          </p:cNvPr>
          <p:cNvCxnSpPr>
            <a:cxnSpLocks/>
          </p:cNvCxnSpPr>
          <p:nvPr/>
        </p:nvCxnSpPr>
        <p:spPr>
          <a:xfrm>
            <a:off x="1481789" y="554676"/>
            <a:ext cx="500003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94729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332DD0F-57B1-64A9-BA24-2D178A4DE9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0FADA-8A3F-654D-EBAC-98CABC9B6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>
                <a:latin typeface="Arial Rounded MT Bold" panose="020F0704030504030204" pitchFamily="34" charset="0"/>
              </a:rPr>
              <a:t>                        Final Ad Setup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E67DE8-C2D8-F1E9-295B-A52B028999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FilmGrain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8624" y="110542"/>
            <a:ext cx="780087" cy="7244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066232-03DF-65A3-CE89-3E164CA4FE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9025" y="145940"/>
            <a:ext cx="689041" cy="6890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083AD8F-CC0A-4265-06C8-1E7FD776DF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8381" y="1941637"/>
            <a:ext cx="5330693" cy="380970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D1A51DD-24D4-4BBA-6241-E5668C22CF2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6003" y="1941637"/>
            <a:ext cx="5299217" cy="380970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FF0B7E6-52B0-F52A-CED8-3E0DFDBBAE71}"/>
              </a:ext>
            </a:extLst>
          </p:cNvPr>
          <p:cNvCxnSpPr>
            <a:cxnSpLocks/>
          </p:cNvCxnSpPr>
          <p:nvPr/>
        </p:nvCxnSpPr>
        <p:spPr>
          <a:xfrm>
            <a:off x="2105174" y="696085"/>
            <a:ext cx="472059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65641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242495D-4F20-DA0C-149A-E06F1A7753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5E395-58B9-DAD8-017A-D44A8DB865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                      </a:t>
            </a:r>
            <a:r>
              <a:rPr lang="en-US" sz="3200" b="1" dirty="0">
                <a:latin typeface="Arial Rounded MT Bold" panose="020F0704030504030204" pitchFamily="34" charset="0"/>
              </a:rPr>
              <a:t>Conversation And Tracking</a:t>
            </a:r>
            <a:endParaRPr lang="en-US" b="1" dirty="0">
              <a:latin typeface="Arial Rounded MT Bold" panose="020F07040305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93F26E-7E81-D2F1-5613-6B63EC8B5A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FilmGrain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2681" y="145940"/>
            <a:ext cx="780087" cy="7244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D5B9820-3D5F-BED4-4E39-8218FC0954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8926" y="26718"/>
            <a:ext cx="689041" cy="6890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EA30D9-6403-7E55-2BAC-1A1FC6F696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2681" y="1443091"/>
            <a:ext cx="5303980" cy="458763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81AD84D-7BB5-F9D4-86A2-932FA0CAD4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14893" y="1443091"/>
            <a:ext cx="5832348" cy="458791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0C8AF63-5C35-E065-AB9A-133C58AA1F9A}"/>
              </a:ext>
            </a:extLst>
          </p:cNvPr>
          <p:cNvCxnSpPr>
            <a:cxnSpLocks/>
          </p:cNvCxnSpPr>
          <p:nvPr/>
        </p:nvCxnSpPr>
        <p:spPr>
          <a:xfrm>
            <a:off x="1863753" y="552586"/>
            <a:ext cx="587971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61000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1AE6146-48FC-D177-6ED1-6F177CB1C5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753"/>
            <a:ext cx="12192000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E9536-3BC9-5340-D4A4-FC9A5DF0CD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>
                <a:latin typeface="Arial Rounded MT Bold" panose="020F0704030504030204" pitchFamily="34" charset="0"/>
              </a:rPr>
              <a:t>                     Final Ad Preview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8259BC-CF89-0325-41CB-A372EE42B2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FilmGrain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2012" y="110542"/>
            <a:ext cx="780087" cy="7244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DC5720-1383-B0ED-B120-DCA3557BAF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5559" y="0"/>
            <a:ext cx="689041" cy="6890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D90492-5A15-7577-75EC-28AC2089ED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159" y="1846564"/>
            <a:ext cx="10781425" cy="385391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590A5DC-F112-02E7-B902-D817A959791A}"/>
              </a:ext>
            </a:extLst>
          </p:cNvPr>
          <p:cNvCxnSpPr/>
          <p:nvPr/>
        </p:nvCxnSpPr>
        <p:spPr>
          <a:xfrm>
            <a:off x="2187615" y="689041"/>
            <a:ext cx="442153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1629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1E206A6-2918-F9E7-1685-F310D0FD0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5A0E39D-DD49-1008-299E-4B13EA4589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398" y="2318491"/>
            <a:ext cx="2832084" cy="17305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A0A090C-9E63-AE77-BB77-4F95B34A9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1420" y="2455296"/>
            <a:ext cx="3204630" cy="1593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912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bhumika rathore meta ads</Template>
  <TotalTime>3</TotalTime>
  <Words>449</Words>
  <Application>Microsoft Office PowerPoint</Application>
  <PresentationFormat>Widescreen</PresentationFormat>
  <Paragraphs>90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Arial Black</vt:lpstr>
      <vt:lpstr>Arial Rounded MT Bold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bhumikarathore867@gmail.com</dc:creator>
  <cp:lastModifiedBy>bhumikarathore867@gmail.com</cp:lastModifiedBy>
  <cp:revision>1</cp:revision>
  <dcterms:created xsi:type="dcterms:W3CDTF">2026-10-02T13:09:13Z</dcterms:created>
  <dcterms:modified xsi:type="dcterms:W3CDTF">2026-10-02T13:20:33Z</dcterms:modified>
</cp:coreProperties>
</file>